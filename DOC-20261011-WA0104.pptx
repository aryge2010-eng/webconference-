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38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650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2789" y="971550"/>
            <a:ext cx="451842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2" dirty="0">
                <a:solidFill>
                  <a:srgbClr val="00B3CC"/>
                </a:solidFill>
                <a:latin typeface="Inter SemiBold" pitchFamily="34" charset="0"/>
                <a:ea typeface="Inter SemiBold" pitchFamily="34" charset="-122"/>
              </a:rPr>
              <a:t>AVALIAÇÃO CONTÍNUA DE TIC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312789" y="1377401"/>
            <a:ext cx="451842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4150" b="1" kern="0" spc="-2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ENGENHARIA DE
SOFTWARE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2584252" y="3075384"/>
            <a:ext cx="3975497" cy="10965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584252" y="3075384"/>
            <a:ext cx="397549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2584252" y="3364706"/>
            <a:ext cx="3975497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Instituição:</a:t>
            </a: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Instituto de Telecomunicações (ITEL)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45036" y="3620145"/>
            <a:ext cx="2853928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Localidade:</a:t>
            </a: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Luanda, Bairro do CCT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19189" y="3876733"/>
            <a:ext cx="2637799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Turma:</a:t>
            </a: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A2 | </a:t>
            </a:r>
            <a:r>
              <a:rPr lang="en-US" sz="12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 </a:t>
            </a:r>
            <a:r>
              <a:rPr lang="en-US" sz="1200" b="1" dirty="0" err="1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Letivo</a:t>
            </a:r>
            <a:r>
              <a:rPr lang="en-US" sz="12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</a:t>
            </a:r>
            <a:r>
              <a:rPr lang="en-US" sz="12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 SemiBold" pitchFamily="34" charset="-120"/>
              </a:rPr>
              <a:t> </a:t>
            </a: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2026/2027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08219" y="4679156"/>
            <a:ext cx="1928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389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628650"/>
            <a:ext cx="8458200" cy="3464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42900" y="628650"/>
            <a:ext cx="57150" cy="346472"/>
          </a:xfrm>
          <a:prstGeom prst="rect">
            <a:avLst/>
          </a:prstGeom>
          <a:solidFill>
            <a:srgbClr val="00B3CC"/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628650"/>
            <a:ext cx="84582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Engenharia de Software?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42900" y="1260872"/>
            <a:ext cx="446629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Engenharia de Software é a aplicação de uma abordagem </a:t>
            </a: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sistemática, disciplinada e quantificável</a:t>
            </a: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desenvolvimento, operação e manutenção de software.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42900" y="2529557"/>
            <a:ext cx="446629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se trata apenas de programar, mas de aplicar princípios de engenharia para criar soluções tecnológicas que sejam confiáveis e eficientes.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2900" y="3523934"/>
            <a:ext cx="4466295" cy="921544"/>
          </a:xfrm>
          <a:prstGeom prst="rect">
            <a:avLst/>
          </a:prstGeom>
          <a:solidFill>
            <a:srgbClr val="0B1B3D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3523934"/>
            <a:ext cx="4466295" cy="92154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engenharia visa resolver a </a:t>
            </a:r>
            <a:r>
              <a:rPr lang="en-US" sz="1100" b="1" dirty="0">
                <a:solidFill>
                  <a:srgbClr val="00B3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"Crise do Software"</a:t>
            </a: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projetos atrasados, acima do orçamento e com baixa qualidade.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7820" y="1260872"/>
            <a:ext cx="3563280" cy="2818209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09" y="1546622"/>
            <a:ext cx="298324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PILAR DO TEMA (IEEE):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32109" y="1864519"/>
            <a:ext cx="2983241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603546" y="1935956"/>
            <a:ext cx="228600" cy="228600"/>
          </a:xfrm>
          <a:prstGeom prst="ellipse">
            <a:avLst/>
          </a:prstGeom>
          <a:solidFill>
            <a:srgbClr val="00B3CC"/>
          </a:solidFill>
          <a:ln/>
        </p:spPr>
      </p:sp>
      <p:sp>
        <p:nvSpPr>
          <p:cNvPr id="14" name="Text 11"/>
          <p:cNvSpPr/>
          <p:nvPr/>
        </p:nvSpPr>
        <p:spPr>
          <a:xfrm>
            <a:off x="5603546" y="193595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39303" y="1971675"/>
            <a:ext cx="8715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Especificação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09" y="2343150"/>
            <a:ext cx="2983241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603546" y="2414588"/>
            <a:ext cx="228600" cy="228600"/>
          </a:xfrm>
          <a:prstGeom prst="ellipse">
            <a:avLst/>
          </a:prstGeom>
          <a:solidFill>
            <a:srgbClr val="00B3CC"/>
          </a:solidFill>
          <a:ln/>
        </p:spPr>
      </p:sp>
      <p:sp>
        <p:nvSpPr>
          <p:cNvPr id="18" name="Text 15"/>
          <p:cNvSpPr/>
          <p:nvPr/>
        </p:nvSpPr>
        <p:spPr>
          <a:xfrm>
            <a:off x="5603546" y="24145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39303" y="2450306"/>
            <a:ext cx="10715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Desenvolvimento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32109" y="2821781"/>
            <a:ext cx="2983241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603546" y="2893219"/>
            <a:ext cx="228600" cy="228600"/>
          </a:xfrm>
          <a:prstGeom prst="ellipse">
            <a:avLst/>
          </a:prstGeom>
          <a:solidFill>
            <a:srgbClr val="00B3CC"/>
          </a:solidFill>
          <a:ln/>
        </p:spPr>
      </p:sp>
      <p:sp>
        <p:nvSpPr>
          <p:cNvPr id="22" name="Text 19"/>
          <p:cNvSpPr/>
          <p:nvPr/>
        </p:nvSpPr>
        <p:spPr>
          <a:xfrm>
            <a:off x="5603546" y="28932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39303" y="2928938"/>
            <a:ext cx="6072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09" y="3300413"/>
            <a:ext cx="2983241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603546" y="3371850"/>
            <a:ext cx="228600" cy="228600"/>
          </a:xfrm>
          <a:prstGeom prst="ellipse">
            <a:avLst/>
          </a:prstGeom>
          <a:solidFill>
            <a:srgbClr val="00B3CC"/>
          </a:solidFill>
          <a:ln/>
        </p:spPr>
      </p:sp>
      <p:sp>
        <p:nvSpPr>
          <p:cNvPr id="26" name="Text 23"/>
          <p:cNvSpPr/>
          <p:nvPr/>
        </p:nvSpPr>
        <p:spPr>
          <a:xfrm>
            <a:off x="5603546" y="337185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39303" y="3407569"/>
            <a:ext cx="56792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86788" y="4679156"/>
            <a:ext cx="2143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3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6" presetClass="entr" presetSubtype="4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75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75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75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750"/>
                            </p:stCondLst>
                            <p:childTnLst>
                              <p:par>
                                <p:cTn id="9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5" grpId="0" animBg="1"/>
      <p:bldP spid="19" grpId="0" animBg="1"/>
      <p:bldP spid="23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628650"/>
            <a:ext cx="84582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do Trabalho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42900" y="1117997"/>
            <a:ext cx="8458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710928"/>
            <a:ext cx="8458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117997"/>
            <a:ext cx="8458200" cy="600075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 os fundamentos da Engenharia de Software e sua importância para o desenvolvimento tecnológico moderno.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2900" y="1996678"/>
            <a:ext cx="4121944" cy="12948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557213" y="2210991"/>
            <a:ext cx="1164431" cy="2964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Conceituação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213" y="2614613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Compreender o conceito e a história da Engenharia de Software e por que ela é necessária hoje.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9156" y="1996678"/>
            <a:ext cx="4121944" cy="12948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4893469" y="2210991"/>
            <a:ext cx="1096566" cy="2964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3469" y="2614613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Reconhecer as etapas do Ciclo de Vida de Desenvolvimento de Software (SDLC).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" y="3505795"/>
            <a:ext cx="4121944" cy="12948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557213" y="3720108"/>
            <a:ext cx="850106" cy="2964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213" y="4123730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Valorizar a importância de processos sistemáticos para garantir a qualidade do produto final.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79156" y="3505795"/>
            <a:ext cx="4121944" cy="12948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4893469" y="3720108"/>
            <a:ext cx="1271588" cy="29646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Documentação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3469" y="4123730"/>
            <a:ext cx="3693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a fase inicial de documentação através de wireframes práticos.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86788" y="4679156"/>
            <a:ext cx="2143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250"/>
                            </p:stCondLst>
                            <p:childTnLst>
                              <p:par>
                                <p:cTn id="2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25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628650"/>
            <a:ext cx="84582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do Grupo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42900" y="1260872"/>
            <a:ext cx="282535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ESCOLA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2900" y="1418034"/>
            <a:ext cx="28253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Instituto de Telecomunicações (ITEL)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382566" y="1260872"/>
            <a:ext cx="3679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TURMA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382566" y="1418034"/>
            <a:ext cx="3679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64781" y="1260872"/>
            <a:ext cx="6072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 LETIVO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964781" y="1418034"/>
            <a:ext cx="78707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" y="2053828"/>
            <a:ext cx="2226004" cy="8286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" y="2196703"/>
            <a:ext cx="19402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INTEGRANTE 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5775" y="2353866"/>
            <a:ext cx="194025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Nome: Ariclenes Jorge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5775" y="2582466"/>
            <a:ext cx="194025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Nº: 06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711779" y="2053828"/>
            <a:ext cx="2226004" cy="8286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2854654" y="2196703"/>
            <a:ext cx="19402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INTEGRANTE 2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854654" y="2353866"/>
            <a:ext cx="194025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Nome: </a:t>
            </a:r>
            <a:r>
              <a:rPr lang="en-US" sz="1100" b="1" dirty="0" err="1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Áureo</a:t>
            </a: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</a:t>
            </a:r>
            <a:r>
              <a:rPr lang="pt-PT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Barreira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54654" y="2582466"/>
            <a:ext cx="194025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Nº: 07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42900" y="3025378"/>
            <a:ext cx="2226004" cy="8286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" y="3168253"/>
            <a:ext cx="19402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INTEGRANTE 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5775" y="3325416"/>
            <a:ext cx="194025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Nome: </a:t>
            </a:r>
            <a:r>
              <a:rPr lang="en-US" sz="1100" b="1" dirty="0" err="1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Celsio</a:t>
            </a: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Angola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5775" y="3554016"/>
            <a:ext cx="194025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Nº: 08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711779" y="3025378"/>
            <a:ext cx="2226004" cy="8286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2854654" y="3168253"/>
            <a:ext cx="19402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INTEGRANTE 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854654" y="3325416"/>
            <a:ext cx="194025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Nome: </a:t>
            </a:r>
            <a:r>
              <a:rPr lang="en-US" sz="1100" b="1" dirty="0" err="1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Celson</a:t>
            </a: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Júnior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854654" y="3554016"/>
            <a:ext cx="194025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Nº: 09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42900" y="3996928"/>
            <a:ext cx="4594882" cy="8286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485775" y="4139803"/>
            <a:ext cx="430913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INTEGRANTE 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85775" y="4296966"/>
            <a:ext cx="430913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Nome: </a:t>
            </a:r>
            <a:r>
              <a:rPr lang="pt-PT" sz="1100" b="1" dirty="0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Cristiano </a:t>
            </a:r>
            <a:r>
              <a:rPr lang="pt-PT" sz="1100" b="1" dirty="0" err="1">
                <a:solidFill>
                  <a:srgbClr val="0B1B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Quiuma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5775" y="4525566"/>
            <a:ext cx="4309132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Nº: 10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294970" y="1260872"/>
            <a:ext cx="3506130" cy="356473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821" y="1760934"/>
            <a:ext cx="3068966" cy="214312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187883" y="4046934"/>
            <a:ext cx="17287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Instituto de Telecomunicações
Luanda - Bairro do CCT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583216" y="4704159"/>
            <a:ext cx="2178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389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89697" y="725481"/>
            <a:ext cx="256460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1357313" y="1497006"/>
            <a:ext cx="6429375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Engenharia de Software transforma o caos em ordem. Através de métodos, ferramentas e normas técnicas, garantimos que o software seja não apenas funcional, mas sustentável e seguro para a sociedade.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14500" y="3125781"/>
            <a:ext cx="5715000" cy="1292237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6" name="Shape 3"/>
          <p:cNvSpPr/>
          <p:nvPr/>
        </p:nvSpPr>
        <p:spPr>
          <a:xfrm>
            <a:off x="1714500" y="3125781"/>
            <a:ext cx="42863" cy="1292237"/>
          </a:xfrm>
          <a:prstGeom prst="rect">
            <a:avLst/>
          </a:prstGeom>
          <a:solidFill>
            <a:srgbClr val="00B3CC"/>
          </a:solidFill>
          <a:ln/>
        </p:spPr>
      </p:sp>
      <p:sp>
        <p:nvSpPr>
          <p:cNvPr id="7" name="Text 4"/>
          <p:cNvSpPr/>
          <p:nvPr/>
        </p:nvSpPr>
        <p:spPr>
          <a:xfrm>
            <a:off x="1928813" y="3340094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0B1B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REFERÊNCIAS CONSULTADAS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928813" y="3586553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IEEE Computer Society. Guide to the Software Engineering Body of Knowledge (SWEBOK).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928813" y="3792271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IBM. What is the Software Development Lifecycle (SDLC)?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928813" y="3997989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Instituto de Telecomunicações (ITEL). Identidade Institucional e Portal Oficial.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86788" y="4679156"/>
            <a:ext cx="2143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9925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373</Words>
  <Application>Microsoft Office PowerPoint</Application>
  <PresentationFormat>Apresentação no Ecrã (16:9)</PresentationFormat>
  <Paragraphs>67</Paragraphs>
  <Slides>5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1" baseType="lpstr">
      <vt:lpstr>Arial</vt:lpstr>
      <vt:lpstr>Calibri</vt:lpstr>
      <vt:lpstr>Inter</vt:lpstr>
      <vt:lpstr>Inter Bold</vt:lpstr>
      <vt:lpstr>Inter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Ariclenes Jorge</cp:lastModifiedBy>
  <cp:revision>5</cp:revision>
  <dcterms:created xsi:type="dcterms:W3CDTF">2026-10-11T16:40:57Z</dcterms:created>
  <dcterms:modified xsi:type="dcterms:W3CDTF">2026-10-13T23:21:17Z</dcterms:modified>
</cp:coreProperties>
</file>